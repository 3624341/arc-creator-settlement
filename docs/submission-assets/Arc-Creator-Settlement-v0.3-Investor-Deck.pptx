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4bf3e28e404ae3" /><Relationship Type="http://schemas.openxmlformats.org/officeDocument/2006/relationships/extended-properties" Target="/docProps/app.xml" Id="Re822b9323ad04343" /><Relationship Type="http://schemas.openxmlformats.org/officeDocument/2006/relationships/officeDocument" Target="/ppt/presentation.xml" Id="R61afbdd673c14b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d256b24b134452"/>
  </p:sldMasterIdLst>
  <p:notesMasterIdLst>
    <p:notesMasterId xmlns:r="http://schemas.openxmlformats.org/officeDocument/2006/relationships" r:id="Ra42a2a2777e2462e"/>
  </p:notesMasterIdLst>
  <p:sldIdLst>
    <p:sldId xmlns:r="http://schemas.openxmlformats.org/officeDocument/2006/relationships" id="256" r:id="Rb605bb1bcb954aa3"/>
    <p:sldId xmlns:r="http://schemas.openxmlformats.org/officeDocument/2006/relationships" id="257" r:id="R24f3fd0d3afd4b8e"/>
    <p:sldId xmlns:r="http://schemas.openxmlformats.org/officeDocument/2006/relationships" id="258" r:id="Rdedd65c902424a2a"/>
    <p:sldId xmlns:r="http://schemas.openxmlformats.org/officeDocument/2006/relationships" id="259" r:id="Rdc2837ed2e9d4c57"/>
    <p:sldId xmlns:r="http://schemas.openxmlformats.org/officeDocument/2006/relationships" id="260" r:id="R135aecc88237468e"/>
    <p:sldId xmlns:r="http://schemas.openxmlformats.org/officeDocument/2006/relationships" id="261" r:id="Rac53e584c3d84943"/>
    <p:sldId xmlns:r="http://schemas.openxmlformats.org/officeDocument/2006/relationships" id="262" r:id="R2c696c9455d24581"/>
    <p:sldId xmlns:r="http://schemas.openxmlformats.org/officeDocument/2006/relationships" id="263" r:id="Rdf3c80e0b550412b"/>
    <p:sldId xmlns:r="http://schemas.openxmlformats.org/officeDocument/2006/relationships" id="264" r:id="Rab871374c347429d"/>
    <p:sldId xmlns:r="http://schemas.openxmlformats.org/officeDocument/2006/relationships" id="265" r:id="Rab4a5df0caf942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56470090374c7b" /><Relationship Type="http://schemas.openxmlformats.org/officeDocument/2006/relationships/slideMaster" Target="/ppt/slideMasters/slideMaster1.xml" Id="R19d256b24b134452" /><Relationship Type="http://schemas.openxmlformats.org/officeDocument/2006/relationships/notesMaster" Target="/ppt/notesMasters/notesMaster1.xml" Id="Ra42a2a2777e2462e" /><Relationship Type="http://schemas.openxmlformats.org/officeDocument/2006/relationships/presProps" Target="/ppt/presProps.xml" Id="R629cff9af789456d" /><Relationship Type="http://schemas.openxmlformats.org/officeDocument/2006/relationships/tableStyles" Target="/ppt/tableStyles.xml" Id="R42d9391b0a1a4fd3" /><Relationship Type="http://schemas.openxmlformats.org/officeDocument/2006/relationships/slide" Target="/ppt/slides/slide1.xml" Id="Rb605bb1bcb954aa3" /><Relationship Type="http://schemas.openxmlformats.org/officeDocument/2006/relationships/slide" Target="/ppt/slides/slide2.xml" Id="R24f3fd0d3afd4b8e" /><Relationship Type="http://schemas.openxmlformats.org/officeDocument/2006/relationships/slide" Target="/ppt/slides/slide3.xml" Id="Rdedd65c902424a2a" /><Relationship Type="http://schemas.openxmlformats.org/officeDocument/2006/relationships/slide" Target="/ppt/slides/slide4.xml" Id="Rdc2837ed2e9d4c57" /><Relationship Type="http://schemas.openxmlformats.org/officeDocument/2006/relationships/slide" Target="/ppt/slides/slide5.xml" Id="R135aecc88237468e" /><Relationship Type="http://schemas.openxmlformats.org/officeDocument/2006/relationships/slide" Target="/ppt/slides/slide6.xml" Id="Rac53e584c3d84943" /><Relationship Type="http://schemas.openxmlformats.org/officeDocument/2006/relationships/slide" Target="/ppt/slides/slide7.xml" Id="R2c696c9455d24581" /><Relationship Type="http://schemas.openxmlformats.org/officeDocument/2006/relationships/slide" Target="/ppt/slides/slide8.xml" Id="Rdf3c80e0b550412b" /><Relationship Type="http://schemas.openxmlformats.org/officeDocument/2006/relationships/slide" Target="/ppt/slides/slide9.xml" Id="Rab871374c347429d" /><Relationship Type="http://schemas.openxmlformats.org/officeDocument/2006/relationships/slide" Target="/ppt/slides/slide10.xml" Id="Rab4a5df0caf942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caaeeb1e40427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866942c98144b23" /><Relationship Type="http://schemas.openxmlformats.org/officeDocument/2006/relationships/notesMaster" Target="/ppt/notesMasters/notesMaster1.xml" Id="R9f5960c666db4c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b13cdc9cc94013" /><Relationship Type="http://schemas.openxmlformats.org/officeDocument/2006/relationships/notesMaster" Target="/ppt/notesMasters/notesMaster1.xml" Id="R33ae86347bfd43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4425979dc1421e" /><Relationship Type="http://schemas.openxmlformats.org/officeDocument/2006/relationships/notesMaster" Target="/ppt/notesMasters/notesMaster1.xml" Id="R31f5fb7b156b44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4ed247694b435b" /><Relationship Type="http://schemas.openxmlformats.org/officeDocument/2006/relationships/notesMaster" Target="/ppt/notesMasters/notesMaster1.xml" Id="R256e185f872640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45f9845c2f4b31" /><Relationship Type="http://schemas.openxmlformats.org/officeDocument/2006/relationships/notesMaster" Target="/ppt/notesMasters/notesMaster1.xml" Id="R16cc41389dbb4d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13ba61e1b5420d" /><Relationship Type="http://schemas.openxmlformats.org/officeDocument/2006/relationships/notesMaster" Target="/ppt/notesMasters/notesMaster1.xml" Id="R0a9c92a8feac4c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753ed9b0c24000" /><Relationship Type="http://schemas.openxmlformats.org/officeDocument/2006/relationships/notesMaster" Target="/ppt/notesMasters/notesMaster1.xml" Id="Rf631d39fd2694b7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44ab59af4d4ee0" /><Relationship Type="http://schemas.openxmlformats.org/officeDocument/2006/relationships/notesMaster" Target="/ppt/notesMasters/notesMaster1.xml" Id="R9cfba6b4986f4c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f6da3b25b4ae2" /><Relationship Type="http://schemas.openxmlformats.org/officeDocument/2006/relationships/notesMaster" Target="/ppt/notesMasters/notesMaster1.xml" Id="R7ee4ec2c90ad49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b5b450a2ca4a4a" /><Relationship Type="http://schemas.openxmlformats.org/officeDocument/2006/relationships/notesMaster" Target="/ppt/notesMasters/notesMaster1.xml" Id="Rf6c3507a2f68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shipped result: the product is live on Arc Testnet and a milestone payment has been verified onchain.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problem as operational fragmentation, not only payment speed.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end-to-end product flow shown in the live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actual architecture and the boundary between user authorization, server credentials, and Arc contracts.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only verified project facts: deployed escrow, funded amount, released milestone, and passing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public receipt. Amount, milestone, recipient, block, escrow, and transaction hash are read from confirmed Arc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ArcScan as independent confirmation. The screenshot shows success, token transfer, block, timestamp, and fee.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working surfaces demonstrated in the video and repository.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the roadmap with concrete post-v0.3 work. Gateway is planned, not claimed as implemented.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the requested decision: support the hardening, observability, Gateway prototype, and pilot phase.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https://github.com/3624341/arc-creator-settlement</a:t>
            </a:r>
          </a:p>
          <a:p xmlns:a="http://schemas.openxmlformats.org/drawingml/2006/main">
            <a:r>
              <a:t>- https://arc-creator-settlement-v0-2.vercel.app</a:t>
            </a:r>
          </a:p>
          <a:p xmlns:a="http://schemas.openxmlformats.org/drawingml/2006/main">
            <a:r>
              <a:t>- https://testnet.arcscan.app/tx/0xdf8a7711dcbe31f07bc1f61d1492d07a0b490f45dd3b0566eaddce5deb6eb856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c235d9bde645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cbd4b375534cbd" /><Relationship Type="http://schemas.openxmlformats.org/officeDocument/2006/relationships/slideLayout" Target="/ppt/slideLayouts/slideLayout1.xml" Id="Rf8c420ff2630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c420ff2630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6b5b99c2f4446" /><Relationship Type="http://schemas.openxmlformats.org/officeDocument/2006/relationships/notesSlide" Target="/ppt/notesSlides/notesSlide1.xml" Id="R1e86f8b34cd14c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cff694e0e44a8" /><Relationship Type="http://schemas.openxmlformats.org/officeDocument/2006/relationships/notesSlide" Target="/ppt/notesSlides/notesSlide2.xml" Id="Rc48dd794bb6545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183f2bb30494d" /><Relationship Type="http://schemas.openxmlformats.org/officeDocument/2006/relationships/notesSlide" Target="/ppt/notesSlides/notesSlide3.xml" Id="R2f81e0447caf4c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d7ff007e924f85" /><Relationship Type="http://schemas.openxmlformats.org/officeDocument/2006/relationships/notesSlide" Target="/ppt/notesSlides/notesSlide4.xml" Id="R4e9518b6b0b046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eb45f44054b0f" /><Relationship Type="http://schemas.openxmlformats.org/officeDocument/2006/relationships/notesSlide" Target="/ppt/notesSlides/notesSlide5.xml" Id="Re51ce78be0c141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6555fb95d49a0" /><Relationship Type="http://schemas.openxmlformats.org/officeDocument/2006/relationships/image" Target="/ppt/media/image.png" Id="R62f3ec7142be436c" /><Relationship Type="http://schemas.openxmlformats.org/officeDocument/2006/relationships/notesSlide" Target="/ppt/notesSlides/notesSlide6.xml" Id="Raccd5787a4d24e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1176250af48df" /><Relationship Type="http://schemas.openxmlformats.org/officeDocument/2006/relationships/image" Target="/ppt/media/image2.png" Id="R0e626f975af64f94" /><Relationship Type="http://schemas.openxmlformats.org/officeDocument/2006/relationships/notesSlide" Target="/ppt/notesSlides/notesSlide7.xml" Id="R7218b32af99440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9827d7b7a45d0" /><Relationship Type="http://schemas.openxmlformats.org/officeDocument/2006/relationships/notesSlide" Target="/ppt/notesSlides/notesSlide8.xml" Id="Rda33b7fa346746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1843b7d9a43c8" /><Relationship Type="http://schemas.openxmlformats.org/officeDocument/2006/relationships/notesSlide" Target="/ppt/notesSlides/notesSlide9.xml" Id="R8377899f8e1242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982446d26f4b9f" /><Relationship Type="http://schemas.openxmlformats.org/officeDocument/2006/relationships/notesSlide" Target="/ppt/notesSlides/notesSlide10.xml" Id="R57953d9b3e7b4b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7B9D2D-9439-4B35-9531-9FC1B7CB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C74C7-5177-45B1-8C20-A6857732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2AE6"/>
                </a:solidFill>
              </a:defRPr>
            </a:pPr>
            <a:r>
              <a:rPr sz="1275" b="1">
                <a:solidFill>
                  <a:srgbClr val="6E2AE6"/>
                </a:solidFill>
              </a:rPr>
              <a:t>ARC · CIRCLE · USDC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AB4776-A084-4EDD-AA70-EC0714A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Creator payments,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settled by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0C348-FD56-4903-89AA-59746FB9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Arc Creator Settlement v0.3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9865D-4C6C-4F45-8034-74174A3F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704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9645B"/>
                </a:solidFill>
              </a:defRPr>
            </a:pPr>
            <a:r>
              <a:rPr sz="1800" b="0">
                <a:solidFill>
                  <a:srgbClr val="69645B"/>
                </a:solidFill>
              </a:rPr>
              <a:t>A working Arc Testnet escrow with Circle Wallets, programmable USDC releases, and public onchain receipts.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78DF2-50E1-40EA-9FA0-9EF92629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904875"/>
            <a:ext cx="3143250" cy="4762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7F7EF-26B9-403D-BCC7-8195E6AE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85875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E6C3"/>
                </a:solidFill>
              </a:defRPr>
            </a:pPr>
            <a:r>
              <a:rPr sz="1200" b="1">
                <a:solidFill>
                  <a:srgbClr val="32E6C3"/>
                </a:solidFill>
              </a:rPr>
              <a:t>LIVE PROOF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499B8-5EA4-4C62-A0F2-49C14588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025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0.25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DDDD08-7B6D-4F55-A00B-423413A6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USDC released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3D232-74A9-4595-8709-DC464F7C3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44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CE2AF-75C3-4E54-9897-E373786A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57625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DDDD"/>
                </a:solidFill>
              </a:defRPr>
            </a:pPr>
            <a:r>
              <a:rPr sz="1575" b="0">
                <a:solidFill>
                  <a:srgbClr val="DDDDDD"/>
                </a:solidFill>
              </a:rPr>
              <a:t>Arc Testnet</a:t>
            </a:r>
          </a:p>
          <a:p xmlns:a="http://schemas.openxmlformats.org/drawingml/2006/main">
            <a:pPr algn="l">
              <a:defRPr sz="1575" b="0">
                <a:solidFill>
                  <a:srgbClr val="DDDDDD"/>
                </a:solidFill>
              </a:defRPr>
            </a:pPr>
            <a:r>
              <a:rPr sz="1575" b="0">
                <a:solidFill>
                  <a:srgbClr val="DDDDDD"/>
                </a:solidFill>
              </a:rPr>
              <a:t>Block 59,934,707</a:t>
            </a:r>
          </a:p>
          <a:p xmlns:a="http://schemas.openxmlformats.org/drawingml/2006/main">
            <a:pPr algn="l">
              <a:defRPr sz="1575" b="0">
                <a:solidFill>
                  <a:srgbClr val="DDDDDD"/>
                </a:solidFill>
              </a:defRPr>
            </a:pPr>
            <a:r>
              <a:rPr sz="1575" b="0">
                <a:solidFill>
                  <a:srgbClr val="DDDDDD"/>
                </a:solidFill>
              </a:rPr>
              <a:t>Receipt verified</a:t>
            </a:r>
          </a:p>
        </p:txBody>
      </p:sp>
    </p:spTree>
    <p:extLst>
      <p:ext uri="{BB962C8B-B14F-4D97-AF65-F5344CB8AC3E}">
        <p14:creationId xmlns:p14="http://schemas.microsoft.com/office/powerpoint/2010/main" val="18895758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4A2F08-8F85-4AC9-B8FD-ECDCB617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ARC CREATOR SETTLEMENT · V0.3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FB238-07AB-425B-8457-606EF80C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Cross-border project work still settles outside the agreement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0E330F-79F5-481A-BEE0-6BD73C56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8D659-8860-4858-B9D4-CC3BA82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9645B"/>
                </a:solidFill>
              </a:defRPr>
            </a:pPr>
            <a:r>
              <a:rPr sz="1875" b="0">
                <a:solidFill>
                  <a:srgbClr val="69645B"/>
                </a:solidFill>
              </a:rPr>
              <a:t>The contract, delivery approval, payment rail, and proof of payment usually live in separate systems.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0D0CC-611C-465C-BC64-E5406647C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2AE6"/>
                </a:solidFill>
              </a:defRPr>
            </a:pPr>
            <a:r>
              <a:rPr sz="1725" b="1">
                <a:solidFill>
                  <a:srgbClr val="6E2AE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6ECFDC-10E8-43D9-9FD1-373BCFFA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193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Agreement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AC3947-937D-47FD-A8D2-3ABD4D45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193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Terms live in chat, docs, or a marketplace database.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B19D-765A-4956-B04C-322E9B76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F8DF4-9D19-425C-9801-470E0055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2AE6"/>
                </a:solidFill>
              </a:defRPr>
            </a:pPr>
            <a:r>
              <a:rPr sz="1725" b="1">
                <a:solidFill>
                  <a:srgbClr val="6E2AE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236BC-9E66-408F-A1AC-9EE54064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Delivery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0C8C3-C4F9-4EAE-8FF3-2A1B2447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004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Milestones are approved manually and inconsistently.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DC9D3-59F5-4735-98CF-4C033A1D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507AFA-26DA-422B-892C-CB065908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8147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2AE6"/>
                </a:solidFill>
              </a:defRPr>
            </a:pPr>
            <a:r>
              <a:rPr sz="1725" b="1">
                <a:solidFill>
                  <a:srgbClr val="6E2AE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F8B61-B33F-4CD6-B9F1-50BF11ED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814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Payment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387886-0D79-48B3-A4B2-5BAD5924F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1814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Bank rails add delay, FX friction, and reconciliation.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99DF1-32F2-4BB9-884C-6594E314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52975"/>
            <a:ext cx="981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79428-7B85-4710-A581-4D276ED4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62525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E2AE6"/>
                </a:solidFill>
              </a:defRPr>
            </a:pPr>
            <a:r>
              <a:rPr sz="1725" b="1">
                <a:solidFill>
                  <a:srgbClr val="6E2AE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AD6631-FBB7-4C4D-8CA6-FF5E2C71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6252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Proof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9774C-1776-4C3F-A20C-16AAC79AA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6252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Receipts are platform records—not independently verifiable.</a:t>
            </a:r>
          </a:p>
        </p:txBody>
      </p:sp>
    </p:spTree>
    <p:extLst>
      <p:ext uri="{BB962C8B-B14F-4D97-AF65-F5344CB8AC3E}">
        <p14:creationId xmlns:p14="http://schemas.microsoft.com/office/powerpoint/2010/main" val="610558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17486-7AF1-48DB-9A41-73729E94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ARC CREATOR SETTLEMENT · V0.3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B8973-16DC-4A41-B6E4-A57EBC16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One escrow makes milestone releases verifiable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4B1BA-396E-4BE8-8EFF-3C26D234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93AEE-C59B-4204-A082-4850E002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47875"/>
            <a:ext cx="1952625" cy="3143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C81EC-72C9-4AB3-A83F-A2215A28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838AE-13DA-45E6-8E94-FD267A23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Create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3140D9-F064-48E0-9063-9AA4A99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57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Client defines creator, value, and four milestones.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922D5-C51D-46BD-80D3-94F79647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2AE6"/>
                </a:solidFill>
              </a:defRPr>
            </a:pPr>
            <a:r>
              <a:rPr sz="210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591F93-8D3D-48E2-B6A5-BE2CB280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47875"/>
            <a:ext cx="1952625" cy="3143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3D65B2-FB1C-49EB-A114-9F88CF57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2383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387C0C-5D28-4155-A4CA-DE567711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051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Fund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65428-D8A4-4ECD-9A51-6F94DCE3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29000"/>
            <a:ext cx="157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USDC moves into the Arc escrow.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FD8AEB-ADF8-4CB7-9152-4E01EB98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2AE6"/>
                </a:solidFill>
              </a:defRPr>
            </a:pPr>
            <a:r>
              <a:rPr sz="210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485699-FE7D-4B2B-926D-D9E98FEB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47875"/>
            <a:ext cx="1952625" cy="3143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DEDD2-DC6F-4D5C-B14B-68753046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383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A7C15D-87BF-4B41-8022-F04D20DC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051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Submit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5A464-B6D2-4007-9082-AF390906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29000"/>
            <a:ext cx="157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Creator marks a milestone delivered.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32F45-860E-46DC-BCC6-10BD1509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2AE6"/>
                </a:solidFill>
              </a:defRPr>
            </a:pPr>
            <a:r>
              <a:rPr sz="210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7A75EF-15E5-46AC-9AA5-6F58BB4C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47875"/>
            <a:ext cx="1952625" cy="3143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ED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4958C-0CBC-4F20-8304-D09998E2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383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E2AE6"/>
                </a:solidFill>
              </a:defRPr>
            </a:pPr>
            <a:r>
              <a:rPr sz="2550" b="1">
                <a:solidFill>
                  <a:srgbClr val="6E2AE6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DE6B2-6D93-457A-A3B1-D9E3F3AB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051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9BCD03-80A3-41FF-91C1-6A05CEBE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29000"/>
            <a:ext cx="157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Client approves; USDC transfers onchain.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ED35B2-287D-4CA3-B179-0CF0B17F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861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E2AE6"/>
                </a:solidFill>
              </a:defRPr>
            </a:pPr>
            <a:r>
              <a:rPr sz="210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85700-9684-4B95-AA99-C9A0D19E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47875"/>
            <a:ext cx="1952625" cy="3143250"/>
          </a:xfrm>
          <a:prstGeom xmlns:a="http://schemas.openxmlformats.org/drawingml/2006/main" prst="roundRect">
            <a:avLst>
              <a:gd name="adj" fmla="val 5854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BB8E0-1F11-4E38-A203-93F6EE7A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238375"/>
            <a:ext cx="523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FCA5A-A745-4D60-9263-DC4E7E58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051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Verify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C29227-3A5B-49DD-990C-C32F075A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29000"/>
            <a:ext cx="1571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A public receipt reads the confirmed transaction.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572513-DB81-45FC-A7E0-9343D574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same state powers settlement operations and the public receipt.</a:t>
            </a:r>
          </a:p>
        </p:txBody>
      </p:sp>
    </p:spTree>
    <p:extLst>
      <p:ext uri="{BB962C8B-B14F-4D97-AF65-F5344CB8AC3E}">
        <p14:creationId xmlns:p14="http://schemas.microsoft.com/office/powerpoint/2010/main" val="2064772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B6CA48-222B-4834-9682-9F4F5AE6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ARC CREATOR SETTLEMENT · V0.3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ED291D-5C15-4176-A1C8-1A5608D8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Arc settles; Circle authorizes the wallet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69000-D4BA-4905-96BE-F51C0BCC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A6325-F227-4396-B6B1-A4314811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43125"/>
            <a:ext cx="2457450" cy="2667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8BA52-422B-48D2-92FC-9E946A6A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AEC7F-CFCD-46B4-8463-F4643E51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Circle user-owned wallet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Approves USDC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51773-3554-478D-A539-C92EC6AB8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19087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E2AE6"/>
                </a:solidFill>
              </a:defRPr>
            </a:pPr>
            <a:r>
              <a:rPr sz="225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BB386-156C-413A-B999-C326787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457450" cy="2667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3E084-738E-4FFE-B6F4-F6DFB98B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APPLICATION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60B37-3E67-4D2F-BA52-AB83C2FB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Next.js + API routes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Contract and receipt 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7654D-F949-4124-9A3E-E564FD1F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9087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E2AE6"/>
                </a:solidFill>
              </a:defRPr>
            </a:pPr>
            <a:r>
              <a:rPr sz="225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0B1784-9F9E-4F8C-9073-8DAD5D6C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43125"/>
            <a:ext cx="2457450" cy="2667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5F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EF79B-A561-4C7F-87D6-3B26109C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C68"/>
                </a:solidFill>
              </a:defRPr>
            </a:pPr>
            <a:r>
              <a:rPr sz="1125" b="1">
                <a:solidFill>
                  <a:srgbClr val="007C68"/>
                </a:solidFill>
              </a:rPr>
              <a:t>ARC TESTNET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4933-6788-4DFF-A77B-BB2E543F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EscrowFactory + Escrow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USDC milestone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082A2B-525C-44F4-86C4-980840F5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190875"/>
            <a:ext cx="361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E2AE6"/>
                </a:solidFill>
              </a:defRPr>
            </a:pPr>
            <a:r>
              <a:rPr sz="2250" b="1">
                <a:solidFill>
                  <a:srgbClr val="6E2AE6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B31BC5-353A-4A59-816A-982FF3AF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143125"/>
            <a:ext cx="2457450" cy="2667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D309EB-8074-4D41-A59F-A22615B2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812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PUBLIC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BB428-7D20-4D0B-807E-37F5C242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5275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ArcScan + receipt URL</a:t>
            </a:r>
          </a:p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Independent 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239239-BC9F-460A-9D46-B83D88C8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No seed phrase is handled by the app. The server uses Circle credentials; secrets never enter the browser bundle.</a:t>
            </a:r>
          </a:p>
        </p:txBody>
      </p:sp>
    </p:spTree>
    <p:extLst>
      <p:ext uri="{BB962C8B-B14F-4D97-AF65-F5344CB8AC3E}">
        <p14:creationId xmlns:p14="http://schemas.microsoft.com/office/powerpoint/2010/main" val="1317475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C904D-8C60-4820-A173-BA27F3E2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VERIFIED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937A24-3284-4B8A-820E-583A9228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v0.3 path is deployed and exercised end to 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248B33-1824-4CA3-AF00-1B2214E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14426-D507-4EA6-856B-90EAB5BD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375C3-4A23-4984-9632-4114CC98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1 USDC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3CBE7-113D-4B4F-806E-4803303B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Escrow funded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BDF41-B38B-409C-BD03-B60C7C8C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05000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D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91675-AF83-4736-BA38-C9A72680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717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E2AE6"/>
                </a:solidFill>
              </a:defRPr>
            </a:pPr>
            <a:r>
              <a:rPr sz="3225" b="1">
                <a:solidFill>
                  <a:srgbClr val="6E2AE6"/>
                </a:solidFill>
              </a:rPr>
              <a:t>0.25 USDC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B154A3-44BD-416C-BEFF-38292AE8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765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Milestone released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517B63-E74F-4F24-BEBE-B26E2015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CC06DA-BC96-4B0D-8ECE-DFD60DA5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290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255EAB-C83B-4551-8C30-496F488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339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Milestones encoded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746D1-38EB-4CF0-A748-BB73233C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62375"/>
            <a:ext cx="5143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C30A8-D1E4-4BD9-9ABA-0E7E381B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29075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</a:defRPr>
            </a:pPr>
            <a:r>
              <a:rPr sz="3225" b="1">
                <a:solidFill>
                  <a:srgbClr val="111111"/>
                </a:solidFill>
              </a:rPr>
              <a:t>19 + 2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26428E-C209-4792-8718-1F8C9437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7339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Web + Solidity tests</a:t>
            </a:r>
          </a:p>
        </p:txBody>
      </p:sp>
    </p:spTree>
    <p:extLst>
      <p:ext uri="{BB962C8B-B14F-4D97-AF65-F5344CB8AC3E}">
        <p14:creationId xmlns:p14="http://schemas.microsoft.com/office/powerpoint/2010/main" val="303717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AEF9E-6798-4EF0-A0F1-22077E6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ONCHAIN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12332-3F96-41A2-8C66-C4387090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 confirmed Arc transaction becomes a readable public receipt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01258-26B1-4588-BE16-0EF0447F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3ec7142be436c"/>
          <a:stretch xmlns:a="http://schemas.openxmlformats.org/drawingml/2006/main"/>
        </p:blipFill>
        <p:spPr>
          <a:xfrm xmlns:a="http://schemas.openxmlformats.org/drawingml/2006/main">
            <a:off x="1173790" y="1666875"/>
            <a:ext cx="5177171" cy="45243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9A03C-EAA0-4347-82B4-3DBA1569F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333875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554437-8895-4700-96A4-F86FF29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478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2E6C3"/>
                </a:solidFill>
              </a:defRPr>
            </a:pPr>
            <a:r>
              <a:rPr sz="1200" b="1">
                <a:solidFill>
                  <a:srgbClr val="32E6C3"/>
                </a:solidFill>
              </a:rPr>
              <a:t>PAYMENT RELEASED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36F4FF-3F42-4F2D-B7DC-F24DDBC5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2412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0.25 USDC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BB6BF-7F17-4801-B0CF-E776FF49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AAAA"/>
                </a:solidFill>
              </a:defRPr>
            </a:pPr>
            <a:r>
              <a:rPr sz="1200" b="1">
                <a:solidFill>
                  <a:srgbClr val="AAAAAA"/>
                </a:solidFill>
              </a:rPr>
              <a:t>Transaction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6274B-DC79-40DF-9D73-20C83418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100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0xdf8a7711…eb856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4677E-3118-4E7E-83C5-FF84CB2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29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AAAA"/>
                </a:solidFill>
              </a:defRPr>
            </a:pPr>
            <a:r>
              <a:rPr sz="1200" b="1">
                <a:solidFill>
                  <a:srgbClr val="AAAAAA"/>
                </a:solidFill>
              </a:rPr>
              <a:t>Escrow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F4707-B0F3-46E0-AEB5-A7D0A9C0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7148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0x22De463e…D81Df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28D7B-FD87-4E8C-AA8C-DF812C7BD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286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CFF2E"/>
                </a:solidFill>
              </a:defRPr>
            </a:pPr>
            <a:r>
              <a:rPr sz="1500" b="1">
                <a:solidFill>
                  <a:srgbClr val="9CFF2E"/>
                </a:solidFill>
              </a:rPr>
              <a:t>Block 59,934,707</a:t>
            </a:r>
          </a:p>
        </p:txBody>
      </p:sp>
    </p:spTree>
    <p:extLst>
      <p:ext uri="{BB962C8B-B14F-4D97-AF65-F5344CB8AC3E}">
        <p14:creationId xmlns:p14="http://schemas.microsoft.com/office/powerpoint/2010/main" val="2133728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13FFF-DAAD-4B8B-BE61-9EC78072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CHAIN-LEVEL PROOF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D47D1A-C090-4F69-9C25-1F0F7365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ArcScan independently confirms the USDC transfer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757DB-262D-4350-A5DE-E81133A5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626f975af64f94"/>
          <a:stretch xmlns:a="http://schemas.openxmlformats.org/drawingml/2006/main"/>
        </p:blipFill>
        <p:spPr>
          <a:xfrm xmlns:a="http://schemas.openxmlformats.org/drawingml/2006/main">
            <a:off x="880806" y="1619250"/>
            <a:ext cx="6810887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D94A70-7372-4A71-8FBB-4463BBD14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49A55"/>
                </a:solidFill>
              </a:defRPr>
            </a:pPr>
            <a:r>
              <a:rPr sz="2550" b="1">
                <a:solidFill>
                  <a:srgbClr val="149A55"/>
                </a:solidFill>
              </a:rPr>
              <a:t>SUCCESS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3536-57E3-405C-B641-5EDE702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57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0.25 USDC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A5BF5-A424-40D5-90CE-0ADEF79D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813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45B"/>
                </a:solidFill>
              </a:defRPr>
            </a:pPr>
            <a:r>
              <a:rPr sz="1575" b="0">
                <a:solidFill>
                  <a:srgbClr val="69645B"/>
                </a:solidFill>
              </a:rPr>
              <a:t>to creator wallet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079B0-90FD-47D7-8FD5-3CFA2939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0050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980D2D-8FD4-4DF9-BC21-67C771D3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Transaction fee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0.004082715 USDC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7CA7F-DC61-43E1-8E01-B9C964F7E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816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E2AE6"/>
                </a:solidFill>
              </a:defRPr>
            </a:pPr>
            <a:r>
              <a:rPr sz="1425" b="1">
                <a:solidFill>
                  <a:srgbClr val="6E2AE6"/>
                </a:solidFill>
              </a:rPr>
              <a:t>Confirmed in &lt;0.52 sec</a:t>
            </a:r>
          </a:p>
        </p:txBody>
      </p:sp>
    </p:spTree>
    <p:extLst>
      <p:ext uri="{BB962C8B-B14F-4D97-AF65-F5344CB8AC3E}">
        <p14:creationId xmlns:p14="http://schemas.microsoft.com/office/powerpoint/2010/main" val="15258243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11B46-6A8D-40DA-9063-DC3644D8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ARC CREATOR SETTLEMENT · V0.3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59D57-ADC6-4E7E-B314-8C6AFD7B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MVP is a product surface, not a contract-only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B76464-BB9A-487B-A3FB-CFC110FD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54FC0-C814-48DD-973B-2452D48B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050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2AE6"/>
                </a:solidFill>
              </a:defRPr>
            </a:pPr>
            <a:r>
              <a:rPr sz="1500" b="1">
                <a:solidFill>
                  <a:srgbClr val="6E2AE6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88F4B-BBC8-49E4-B320-AB70DFA3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905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Circle Wallet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950DC-7B26-4548-87EE-241FC68D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381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Reload or create a user-owned Arc wallet and display USDC balance.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94AC0-D4DA-454B-886C-BE641A6D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0500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2AE6"/>
                </a:solidFill>
              </a:defRPr>
            </a:pPr>
            <a:r>
              <a:rPr sz="1500" b="1">
                <a:solidFill>
                  <a:srgbClr val="6E2AE6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43DFC-AD61-472B-AD5F-490FC761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0500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Settlement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7EB62-29C5-4F5E-868F-EA825CF9C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Approve, deposit, submit, and release each milestone.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D9B68-B1EB-4E11-9F96-002DEB0F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2AE6"/>
                </a:solidFill>
              </a:defRPr>
            </a:pPr>
            <a:r>
              <a:rPr sz="1500" b="1">
                <a:solidFill>
                  <a:srgbClr val="6E2AE6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AC599C-0AB6-473C-AD45-2D0AF9E4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714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Public receipts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93369F-AAF4-48E9-907B-7F62172C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1910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Share a read-only link that anyone can verify against ArcScan.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290CB3-93DD-4C3B-8671-534FF01A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714750"/>
            <a:ext cx="57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E2AE6"/>
                </a:solidFill>
              </a:defRPr>
            </a:pPr>
            <a:r>
              <a:rPr sz="1500" b="1">
                <a:solidFill>
                  <a:srgbClr val="6E2AE6"/>
                </a:solidFill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D4FB9-6AE6-4D50-8B47-2DC02731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14750"/>
            <a:ext cx="419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Recovery-safe setup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FD4AA-8AC0-4306-B745-4858F227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19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45B"/>
                </a:solidFill>
              </a:defRPr>
            </a:pPr>
            <a:r>
              <a:rPr sz="1500" b="0">
                <a:solidFill>
                  <a:srgbClr val="69645B"/>
                </a:solidFill>
              </a:rPr>
              <a:t>Entity-secret recovery workflow is tested and excluded from Git.</a:t>
            </a:r>
          </a:p>
        </p:txBody>
      </p:sp>
    </p:spTree>
    <p:extLst>
      <p:ext uri="{BB962C8B-B14F-4D97-AF65-F5344CB8AC3E}">
        <p14:creationId xmlns:p14="http://schemas.microsoft.com/office/powerpoint/2010/main" val="771166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37E02-231D-4C61-A4C3-39485AFE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45B"/>
                </a:solidFill>
              </a:defRPr>
            </a:pPr>
            <a:r>
              <a:rPr sz="1125" b="1">
                <a:solidFill>
                  <a:srgbClr val="69645B"/>
                </a:solidFill>
              </a:rPr>
              <a:t>ARC CREATOR SETTLEMENT · V0.3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BADFC-C5AD-4A63-93EC-991E29E4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The next grant phase converts proof into reusable infrastructure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E01230-B8E9-4057-AE18-24A68E8D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D4151-23EB-46DE-A0F3-BA80D663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2AE6"/>
                </a:solidFill>
              </a:defRPr>
            </a:pPr>
            <a:r>
              <a:rPr sz="1275" b="1">
                <a:solidFill>
                  <a:srgbClr val="6E2AE6"/>
                </a:solidFill>
              </a:rPr>
              <a:t>0–4 weeks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92929-57CD-4017-8BA1-ED40B4F1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2A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94A1A9-169E-4D85-ACA5-8405254E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Harden settlement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6DB9-B672-4542-BB67-C48DC24F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Role checks, state validation, failure UX, deterministic deployment.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2ADCE-AC61-407B-932E-AB1804DF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2AE6"/>
                </a:solidFill>
              </a:defRPr>
            </a:pPr>
            <a:r>
              <a:rPr sz="1275" b="1">
                <a:solidFill>
                  <a:srgbClr val="6E2AE6"/>
                </a:solidFill>
              </a:rPr>
              <a:t>4–10 weeks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FB768A-E08E-4CF8-9D70-FCDE2655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00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FDFE3-755E-41B3-8755-C39449BB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Add observability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3F4B1-89B1-46B8-9446-F6BE06FEF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Indexed events, operational views, reusable marketplace APIs.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995D1-6F55-43A6-B073-65E19712A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2AE6"/>
                </a:solidFill>
              </a:defRPr>
            </a:pPr>
            <a:r>
              <a:rPr sz="1275" b="1">
                <a:solidFill>
                  <a:srgbClr val="6E2AE6"/>
                </a:solidFill>
              </a:rPr>
              <a:t>10–18 weeks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5B9B24-AA5B-4FAF-AE8C-135296EC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95CD17-441E-44DD-8111-09A1269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Prototype funding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C04196-CDCE-4109-A685-1390BCB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29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Circle Gateway exploration for cross-chain USDC entry.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3A61BB-41B1-46C2-8A66-C20BA7EC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E2AE6"/>
                </a:solidFill>
              </a:defRPr>
            </a:pPr>
            <a:r>
              <a:rPr sz="1275" b="1">
                <a:solidFill>
                  <a:srgbClr val="6E2AE6"/>
                </a:solidFill>
              </a:rPr>
              <a:t>18–30 weeks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69A5CA-9DB0-4FF5-AE3A-24B8056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03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2A90F-F73A-4D34-98FB-1FF91718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Review + 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CD8349-35FA-4707-BFB7-6C1399CE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29000"/>
            <a:ext cx="2333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45B"/>
                </a:solidFill>
              </a:defRPr>
            </a:pPr>
            <a:r>
              <a:rPr sz="1425" b="0">
                <a:solidFill>
                  <a:srgbClr val="69645B"/>
                </a:solidFill>
              </a:rPr>
              <a:t>Focused security review and controlled creator marketplace pilot.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27C903-ABA5-49F5-A75F-473CD9ED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Outcome: a settlement primitive that marketplaces can integrate—not another closed payment ledger.</a:t>
            </a:r>
          </a:p>
        </p:txBody>
      </p:sp>
    </p:spTree>
    <p:extLst>
      <p:ext uri="{BB962C8B-B14F-4D97-AF65-F5344CB8AC3E}">
        <p14:creationId xmlns:p14="http://schemas.microsoft.com/office/powerpoint/2010/main" val="711917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4E20C-9785-42EB-A6FC-81EC3AE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8096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proof exists.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Now make it reusable.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8BC1F0-E226-4262-BB95-37DF1A7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9875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9CFF2E"/>
                </a:solidFill>
              </a:defRPr>
            </a:pPr>
            <a:r>
              <a:rPr sz="1950" b="1">
                <a:solidFill>
                  <a:srgbClr val="9CFF2E"/>
                </a:solidFill>
              </a:rPr>
              <a:t>Arc Creator Settlement v0.3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6789D-B981-415D-98F2-12736D3B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3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04F7E-056F-40A8-8C38-50C2EB61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576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AAAA"/>
                </a:solidFill>
              </a:defRPr>
            </a:pPr>
            <a:r>
              <a:rPr sz="1200" b="1">
                <a:solidFill>
                  <a:srgbClr val="AAAAAA"/>
                </a:solidFill>
              </a:rPr>
              <a:t>Live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CD52DC-706C-4111-98A1-603E27BF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arc-creator-settlement-v0-2.vercel.app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7D7FC-70A6-485D-88C2-87950497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05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AAAAA"/>
                </a:solidFill>
              </a:defRPr>
            </a:pPr>
            <a:r>
              <a:rPr sz="1200" b="1">
                <a:solidFill>
                  <a:srgbClr val="AAAAAA"/>
                </a:solidFill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1BEFD-CE9E-4231-9550-9B30225F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github.com/3624341/arc-creator-settlement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FF33F-7851-473A-B5DE-7285E43D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4292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2E6C3"/>
                </a:solidFill>
              </a:defRPr>
            </a:pPr>
            <a:r>
              <a:rPr sz="1350" b="1">
                <a:solidFill>
                  <a:srgbClr val="32E6C3"/>
                </a:solidFill>
              </a:rPr>
              <a:t>Arc Testnet · Chain ID 5042002</a:t>
            </a:r>
          </a:p>
        </p:txBody>
      </p:sp>
    </p:spTree>
    <p:extLst>
      <p:ext uri="{BB962C8B-B14F-4D97-AF65-F5344CB8AC3E}">
        <p14:creationId xmlns:p14="http://schemas.microsoft.com/office/powerpoint/2010/main" val="2118135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2026-09-01T12:51:47.6810000Z</dcterms:created>
  <dcterms:modified xsi:type="dcterms:W3CDTF">2026-09-01T12:51:47.6810000Z</dcterms:modified>
</coreProperties>
</file>